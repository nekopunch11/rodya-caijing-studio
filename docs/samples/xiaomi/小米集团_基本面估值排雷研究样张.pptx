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4a817514bb4b93" /><Relationship Type="http://schemas.openxmlformats.org/officeDocument/2006/relationships/extended-properties" Target="/docProps/app.xml" Id="R6a1b79fa1c0b4859" /><Relationship Type="http://schemas.openxmlformats.org/officeDocument/2006/relationships/officeDocument" Target="/ppt/presentation.xml" Id="R8edfdf315a4649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faf5c1f8884a4f"/>
  </p:sldMasterIdLst>
  <p:notesMasterIdLst>
    <p:notesMasterId xmlns:r="http://schemas.openxmlformats.org/officeDocument/2006/relationships" r:id="R59208558ea0e409b"/>
  </p:notesMasterIdLst>
  <p:sldIdLst>
    <p:sldId xmlns:r="http://schemas.openxmlformats.org/officeDocument/2006/relationships" id="256" r:id="Rae6885bec37749a8"/>
    <p:sldId xmlns:r="http://schemas.openxmlformats.org/officeDocument/2006/relationships" id="257" r:id="Rc093b2b811e94d36"/>
    <p:sldId xmlns:r="http://schemas.openxmlformats.org/officeDocument/2006/relationships" id="258" r:id="Rf1c07b14966c496e"/>
    <p:sldId xmlns:r="http://schemas.openxmlformats.org/officeDocument/2006/relationships" id="259" r:id="Rbfb399191cc14b44"/>
    <p:sldId xmlns:r="http://schemas.openxmlformats.org/officeDocument/2006/relationships" id="260" r:id="R9ac9a4232b864aeb"/>
    <p:sldId xmlns:r="http://schemas.openxmlformats.org/officeDocument/2006/relationships" id="261" r:id="R09d301b669184e4d"/>
    <p:sldId xmlns:r="http://schemas.openxmlformats.org/officeDocument/2006/relationships" id="262" r:id="R51ee92ad420b46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4ded8ec1c64139" /><Relationship Type="http://schemas.openxmlformats.org/officeDocument/2006/relationships/slideMaster" Target="/ppt/slideMasters/slideMaster1.xml" Id="Rd7faf5c1f8884a4f" /><Relationship Type="http://schemas.openxmlformats.org/officeDocument/2006/relationships/notesMaster" Target="/ppt/notesMasters/notesMaster1.xml" Id="R59208558ea0e409b" /><Relationship Type="http://schemas.openxmlformats.org/officeDocument/2006/relationships/presProps" Target="/ppt/presProps.xml" Id="Re587568b49804e6c" /><Relationship Type="http://schemas.openxmlformats.org/officeDocument/2006/relationships/tableStyles" Target="/ppt/tableStyles.xml" Id="R43a0e90044e744f0" /><Relationship Type="http://schemas.openxmlformats.org/officeDocument/2006/relationships/slide" Target="/ppt/slides/slide1.xml" Id="Rae6885bec37749a8" /><Relationship Type="http://schemas.openxmlformats.org/officeDocument/2006/relationships/slide" Target="/ppt/slides/slide2.xml" Id="Rc093b2b811e94d36" /><Relationship Type="http://schemas.openxmlformats.org/officeDocument/2006/relationships/slide" Target="/ppt/slides/slide3.xml" Id="Rf1c07b14966c496e" /><Relationship Type="http://schemas.openxmlformats.org/officeDocument/2006/relationships/slide" Target="/ppt/slides/slide4.xml" Id="Rbfb399191cc14b44" /><Relationship Type="http://schemas.openxmlformats.org/officeDocument/2006/relationships/slide" Target="/ppt/slides/slide5.xml" Id="R9ac9a4232b864aeb" /><Relationship Type="http://schemas.openxmlformats.org/officeDocument/2006/relationships/slide" Target="/ppt/slides/slide6.xml" Id="R09d301b669184e4d" /><Relationship Type="http://schemas.openxmlformats.org/officeDocument/2006/relationships/slide" Target="/ppt/slides/slide7.xml" Id="R51ee92ad420b46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b84765473a4e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ac033fd76f4d02" /><Relationship Type="http://schemas.openxmlformats.org/officeDocument/2006/relationships/notesMaster" Target="/ppt/notesMasters/notesMaster1.xml" Id="R3b0912cc40cf41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2158262dc40b6" /><Relationship Type="http://schemas.openxmlformats.org/officeDocument/2006/relationships/notesMaster" Target="/ppt/notesMasters/notesMaster1.xml" Id="Rfd654c887f0640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1ab0d383034214" /><Relationship Type="http://schemas.openxmlformats.org/officeDocument/2006/relationships/notesMaster" Target="/ppt/notesMasters/notesMaster1.xml" Id="R2e0d925fb57746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4afae899664994" /><Relationship Type="http://schemas.openxmlformats.org/officeDocument/2006/relationships/notesMaster" Target="/ppt/notesMasters/notesMaster1.xml" Id="R81112a493ab543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bb85f2cf3d4a09" /><Relationship Type="http://schemas.openxmlformats.org/officeDocument/2006/relationships/notesMaster" Target="/ppt/notesMasters/notesMaster1.xml" Id="R04fc254c0f5943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d55f6e88ff490c" /><Relationship Type="http://schemas.openxmlformats.org/officeDocument/2006/relationships/notesMaster" Target="/ppt/notesMasters/notesMaster1.xml" Id="Rfceb627d88214f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93dccffd8c49b4" /><Relationship Type="http://schemas.openxmlformats.org/officeDocument/2006/relationships/notesMaster" Target="/ppt/notesMasters/notesMaster1.xml" Id="R449390b48446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d815d234e49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a48814b7294919" /><Relationship Type="http://schemas.openxmlformats.org/officeDocument/2006/relationships/slideLayout" Target="/ppt/slideLayouts/slideLayout1.xml" Id="Rdfd2578ae80e4d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d2578ae80e4d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4f0fd070f4988" /><Relationship Type="http://schemas.openxmlformats.org/officeDocument/2006/relationships/notesSlide" Target="/ppt/notesSlides/notesSlide1.xml" Id="R9acacda1ab4c40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69a71014a410e" /><Relationship Type="http://schemas.openxmlformats.org/officeDocument/2006/relationships/notesSlide" Target="/ppt/notesSlides/notesSlide2.xml" Id="Ref031405d0ab4c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5afd863d244ea" /><Relationship Type="http://schemas.openxmlformats.org/officeDocument/2006/relationships/notesSlide" Target="/ppt/notesSlides/notesSlide3.xml" Id="Rd7ddb87159b942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c9d1ae4c54ee9" /><Relationship Type="http://schemas.openxmlformats.org/officeDocument/2006/relationships/notesSlide" Target="/ppt/notesSlides/notesSlide4.xml" Id="R4ec27866208746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e59ef2c544c63" /><Relationship Type="http://schemas.openxmlformats.org/officeDocument/2006/relationships/notesSlide" Target="/ppt/notesSlides/notesSlide5.xml" Id="Rc66220cd4d4f43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383be4f2542fe" /><Relationship Type="http://schemas.openxmlformats.org/officeDocument/2006/relationships/notesSlide" Target="/ppt/notesSlides/notesSlide6.xml" Id="Rf42d36bba14744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11bbc26334877" /><Relationship Type="http://schemas.openxmlformats.org/officeDocument/2006/relationships/notesSlide" Target="/ppt/notesSlides/notesSlide7.xml" Id="Rc73e3e1a114346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CDF0B0-C7BD-4B47-A87B-DE9D92CD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EB19A-994E-488E-9881-89899AD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A55E"/>
                </a:solidFill>
              </a:defRPr>
            </a:pPr>
            <a:r>
              <a:rPr sz="1050" b="1">
                <a:solidFill>
                  <a:srgbClr val="C8A55E"/>
                </a:solidFill>
              </a:rPr>
              <a:t>财经内容台 · 真实公司研究样张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08662-80BE-4886-A8C0-3744D6BD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245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C8A5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34071-D9C7-40EF-866E-551A4366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096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A55E"/>
                </a:solidFill>
              </a:defRPr>
            </a:pPr>
            <a:r>
              <a:rPr sz="825" b="1">
                <a:solidFill>
                  <a:srgbClr val="C8A55E"/>
                </a:solidFill>
              </a:rPr>
              <a:t>基本面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A584B-2E48-4732-9EB6-14F7A7C6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55C6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C9724-4C88-41DA-89C0-235DC429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C6C2"/>
                </a:solidFill>
              </a:defRPr>
            </a:pPr>
            <a:r>
              <a:rPr sz="825" b="1">
                <a:solidFill>
                  <a:srgbClr val="55C6C2"/>
                </a:solidFill>
              </a:rPr>
              <a:t>估值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F3D3F-9A65-46D6-A51A-BA94D4B9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5245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E978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95E6-270C-4E66-97EF-1892B76C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096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97878"/>
                </a:solidFill>
              </a:defRPr>
            </a:pPr>
            <a:r>
              <a:rPr sz="825" b="1">
                <a:solidFill>
                  <a:srgbClr val="E97878"/>
                </a:solidFill>
              </a:rPr>
              <a:t>排雷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3B953-692A-4617-A008-DF887072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0E8"/>
                </a:solidFill>
              </a:defRPr>
            </a:pPr>
            <a:r>
              <a:rPr sz="4050" b="1">
                <a:solidFill>
                  <a:srgbClr val="F4F0E8"/>
                </a:solidFill>
              </a:rPr>
              <a:t>小米集团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ED433-A91D-4376-A281-0C0DF359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7D3A5"/>
                </a:solidFill>
              </a:defRPr>
            </a:pPr>
            <a:r>
              <a:rPr sz="1800" b="0">
                <a:solidFill>
                  <a:srgbClr val="E7D3A5"/>
                </a:solidFill>
              </a:rPr>
              <a:t>1810.HK｜增长引擎切换后的质量、价格与风险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310AE-6F2C-4C36-88CD-BF1371F9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990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0E8"/>
                </a:solidFill>
              </a:defRPr>
            </a:pPr>
            <a:r>
              <a:rPr sz="1725" b="1">
                <a:solidFill>
                  <a:srgbClr val="F4F0E8"/>
                </a:solidFill>
              </a:rPr>
              <a:t>结论先行：手机×AIoT仍是现金流底座，汽车已证明毛利能力，但规模爬坡正在吞噬利润；当前估值因缺少同日可核验行情不下结论。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C9B68-E50D-40C3-AAA3-CA9C8588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2194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DE24F-B183-4A9A-B2A2-6067FF55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8E89B-A9E0-4D93-817F-AE6AF4E1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2026Q1 收入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D6DEA-FB3F-4815-ABDC-25142FA2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991.42 亿元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51C5B-1F9E-4D75-B631-AA86C412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97878"/>
                </a:solidFill>
              </a:defRPr>
            </a:pPr>
            <a:r>
              <a:rPr sz="825" b="0">
                <a:solidFill>
                  <a:srgbClr val="E97878"/>
                </a:solidFill>
              </a:rPr>
              <a:t>同比 −10.9%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36873-D095-41D2-A432-C1585003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32194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38EC8-6DD1-4925-BB68-A8BDF966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CD164-7217-4A1C-AAAB-785707BE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481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智能电动车交付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CADB1-DA6B-47D2-B2A6-D3F39CFA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148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80,856 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37210-D7DE-4546-83C2-4098A32A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720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C39A"/>
                </a:solidFill>
              </a:defRPr>
            </a:pPr>
            <a:r>
              <a:rPr sz="825" b="0">
                <a:solidFill>
                  <a:srgbClr val="78C39A"/>
                </a:solidFill>
              </a:rPr>
              <a:t>同比 +6.6%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3E697-E0E0-4F9F-8ADE-3F92080D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32194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B109B-3050-43BA-A2E3-B190CB74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684613-B24C-4089-AD6D-E76CEF2A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481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创新业务毛利率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5E3230-9A98-4FFF-8CB2-7222A75F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148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20.1%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98C719-0F7B-484C-8CF2-41792DBB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720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C6C2"/>
                </a:solidFill>
              </a:defRPr>
            </a:pPr>
            <a:r>
              <a:rPr sz="825" b="0">
                <a:solidFill>
                  <a:srgbClr val="55C6C2"/>
                </a:solidFill>
              </a:rPr>
              <a:t>盈利模型得到初步验证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3DC25-F295-47DD-BC7D-936F8C9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1B5"/>
                </a:solidFill>
              </a:defRPr>
            </a:pPr>
            <a:r>
              <a:rPr sz="900" b="0">
                <a:solidFill>
                  <a:srgbClr val="AAB1B5"/>
                </a:solidFill>
              </a:rPr>
              <a:t>财务截至 2026-03-31｜增量公开信息截至 2026-07-10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3D2187-B81B-426A-A634-C8B541AA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05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A55E"/>
                </a:solidFill>
              </a:defRPr>
            </a:pPr>
            <a:r>
              <a:rPr sz="900" b="1">
                <a:solidFill>
                  <a:srgbClr val="C8A55E"/>
                </a:solidFill>
              </a:rPr>
              <a:t>rodya-caijing-studio</a:t>
            </a:r>
          </a:p>
        </p:txBody>
      </p:sp>
    </p:spTree>
    <p:extLst>
      <p:ext uri="{BB962C8B-B14F-4D97-AF65-F5344CB8AC3E}">
        <p14:creationId xmlns:p14="http://schemas.microsoft.com/office/powerpoint/2010/main" val="991085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6451A4-164E-443A-A533-31F5E396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A55E"/>
                </a:solidFill>
              </a:defRPr>
            </a:pPr>
            <a:r>
              <a:rPr sz="1050" b="1">
                <a:solidFill>
                  <a:srgbClr val="C8A55E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B7762-96CA-496D-A252-8BCFBCD5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CORE TENSION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65E5A-3AC5-4112-94FC-78A19F28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92AA2-1F7F-4FE9-8C0A-1137662B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8"/>
                </a:solidFill>
              </a:defRPr>
            </a:pPr>
            <a:r>
              <a:rPr sz="2250" b="1">
                <a:solidFill>
                  <a:srgbClr val="F4F0E8"/>
                </a:solidFill>
              </a:rPr>
              <a:t>增长引擎已切换，代价是利润被汽车爬坡吞噬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57263-4FD4-401E-BE8A-E7C1EE4A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1B5"/>
                </a:solidFill>
              </a:defRPr>
            </a:pPr>
            <a:r>
              <a:rPr sz="1125" b="0">
                <a:solidFill>
                  <a:srgbClr val="AAB1B5"/>
                </a:solidFill>
              </a:rPr>
              <a:t>收入下滑不等于逻辑失效；需要拆开存量业务与新业务看。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5E235-D694-4552-B851-449F1A0D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9125C-84D6-4025-B89D-7708C1EE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5273E-4430-40BA-9949-4B0D7E9E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集团收入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67BFA-F1BB-4C5C-8394-3C7B41EA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991.42 亿元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4B2F3-E34E-4711-8EE0-6E2DA44F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97878"/>
                </a:solidFill>
              </a:defRPr>
            </a:pPr>
            <a:r>
              <a:rPr sz="825" b="0">
                <a:solidFill>
                  <a:srgbClr val="E97878"/>
                </a:solidFill>
              </a:rPr>
              <a:t>同比 −10.9%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DB7C8-0A91-465E-B5BF-8EF90B92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1DBC5-19F5-4385-A194-DD428F07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CC636-E7DF-4A1F-A341-CD362EE0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经调整净利润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F707E-C70B-4F78-BFAA-F4081299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60.72 亿元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F72BE-571D-41F5-8400-555E8339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97878"/>
                </a:solidFill>
              </a:defRPr>
            </a:pPr>
            <a:r>
              <a:rPr sz="825" b="0">
                <a:solidFill>
                  <a:srgbClr val="E97878"/>
                </a:solidFill>
              </a:rPr>
              <a:t>同比 −43.1%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78CED-44FD-4C8A-883F-BCB00ACA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23FB1-A522-4F4C-BC20-AFD2DF13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1F0BA-ACC9-431F-A313-A523B724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907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手机×AIoT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32655-EB85-4F93-8210-233418A7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574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792.77 亿元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119B2-CA9C-4B19-B1A9-A88BE7F1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14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A55E"/>
                </a:solidFill>
              </a:defRPr>
            </a:pPr>
            <a:r>
              <a:rPr sz="825" b="0">
                <a:solidFill>
                  <a:srgbClr val="C8A55E"/>
                </a:solidFill>
              </a:rPr>
              <a:t>占收入 80%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12E9E-7374-4D0E-A5C6-02E13449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2A073-68A5-44CB-A7D2-289E1F65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D3C7A7-12AA-4A57-AC2B-2F853610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EV / AI / 新业务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6193E-989E-4129-BBCC-26ADFF91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198.64 亿元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E1C27-47DB-44B0-85FA-10C64C5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C6C2"/>
                </a:solidFill>
              </a:defRPr>
            </a:pPr>
            <a:r>
              <a:rPr sz="825" b="0">
                <a:solidFill>
                  <a:srgbClr val="55C6C2"/>
                </a:solidFill>
              </a:rPr>
              <a:t>占收入 20%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EC015-1A3D-42B6-9CF7-61801FA1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1B5"/>
                </a:solidFill>
              </a:defRPr>
            </a:pPr>
            <a:r>
              <a:rPr sz="1050" b="1">
                <a:solidFill>
                  <a:srgbClr val="AAB1B5"/>
                </a:solidFill>
              </a:rPr>
              <a:t>收入结构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165A9C-838C-48C4-9D82-4A1023D1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9982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723C2B-B93A-4E6F-8AC6-BC5C38B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798576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CB20E2-3F22-411B-8A28-30A50ECC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658825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手机 × AIoT  80%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98E19-3A4E-46D2-9EA3-322331AE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3771900"/>
            <a:ext cx="339394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F0E8"/>
                </a:solidFill>
              </a:defRPr>
            </a:pPr>
            <a:r>
              <a:rPr sz="900" b="1">
                <a:solidFill>
                  <a:srgbClr val="F4F0E8"/>
                </a:solidFill>
              </a:rPr>
              <a:t>新业务  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A06878-C69D-4BF3-A766-02B4BCEB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019550"/>
            <a:ext cx="199644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55C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2334FD-7070-449A-8666-1CB2C52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A55E"/>
                </a:solidFill>
              </a:defRPr>
            </a:pPr>
            <a:r>
              <a:rPr sz="1050" b="1">
                <a:solidFill>
                  <a:srgbClr val="C8A55E"/>
                </a:solidFill>
              </a:rPr>
              <a:t>研究含义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B41FE-A135-424C-A4F8-5B593655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C8C703-2A2D-4E24-9929-BAEC91BA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8"/>
                </a:solidFill>
              </a:defRPr>
            </a:pPr>
            <a:r>
              <a:rPr sz="1125" b="0">
                <a:solidFill>
                  <a:srgbClr val="F4F0E8"/>
                </a:solidFill>
              </a:rPr>
              <a:t>收入端的核心压力来自智能手机出货量下降；利润端还叠加汽车业务的研发、渠道与产能爬坡。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1DF0BF-8517-40E7-BF69-16DCC49F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911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C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3B0A9E-E7B1-4ADF-A159-AB955DF6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054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8"/>
                </a:solidFill>
              </a:defRPr>
            </a:pPr>
            <a:r>
              <a:rPr sz="1125" b="0">
                <a:solidFill>
                  <a:srgbClr val="F4F0E8"/>
                </a:solidFill>
              </a:rPr>
              <a:t>真正要验证的是：高端化能否守住 ASP，汽车毛利能否转化为经营利润，而不是只看总收入同比。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A6FDF5-F150-415F-AA02-F14048CE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1B260F-44BE-4B10-A6E3-262DEF1E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AB1B5"/>
                </a:solidFill>
              </a:defRPr>
            </a:pPr>
            <a:r>
              <a:rPr sz="638" b="0">
                <a:solidFill>
                  <a:srgbClr val="AAB1B5"/>
                </a:solidFill>
              </a:rPr>
              <a:t>来源：小米集团 2026Q1 业绩公告及演示材料（A）；金额按公司披露口径。 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6ECF1D-E0E5-4061-90EE-BFDDA7C9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8652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7D3A5"/>
                </a:solidFill>
              </a:defRPr>
            </a:pPr>
            <a:r>
              <a:rPr sz="675" b="0">
                <a:solidFill>
                  <a:srgbClr val="E7D3A5"/>
                </a:solidFill>
              </a:rPr>
              <a:t>演示样张｜未批准公开｜不构成投资建议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1033939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BF45FE-9A5D-4391-87A5-8CA098E1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A55E"/>
                </a:solidFill>
              </a:defRPr>
            </a:pPr>
            <a:r>
              <a:rPr sz="1050" b="1">
                <a:solidFill>
                  <a:srgbClr val="C8A55E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6564E-E8C1-45C8-A8A1-57624C23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FUNDAMENTAL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AC74A-D101-4B38-9D7B-B484A23D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752FC-3AB3-423F-91C3-C4CA5803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8"/>
                </a:solidFill>
              </a:defRPr>
            </a:pPr>
            <a:r>
              <a:rPr sz="2250" b="1">
                <a:solidFill>
                  <a:srgbClr val="F4F0E8"/>
                </a:solidFill>
              </a:rPr>
              <a:t>生态规模仍是核心护城河，但不是自动变现的网络效应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33B9F-71BF-4095-8CFA-43233EA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1B5"/>
                </a:solidFill>
              </a:defRPr>
            </a:pPr>
            <a:r>
              <a:rPr sz="1125" b="0">
                <a:solidFill>
                  <a:srgbClr val="AAB1B5"/>
                </a:solidFill>
              </a:rPr>
              <a:t>把设备连接、用户触达与服务变现分开验证。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AA65B-792F-462B-B5EE-654B2E4F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5146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DEFD8-FE94-4C5D-B3E9-8E7452AF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40C3F-D6C9-4767-BBBB-D3BD0AE0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智能手机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EA061-BBCD-4C9C-B57C-E2740A02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3,380 万部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B4B78-A664-433D-9CB5-219163A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97878"/>
                </a:solidFill>
              </a:defRPr>
            </a:pPr>
            <a:r>
              <a:rPr sz="825" b="0">
                <a:solidFill>
                  <a:srgbClr val="E97878"/>
                </a:solidFill>
              </a:rPr>
              <a:t>出货同比 −19.2%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714A2-83B3-4EE7-8441-2C6795CA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0250"/>
            <a:ext cx="25146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757F8-0044-46C8-84C1-753D8AA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0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9AEA1-63B2-49E1-9732-821EF191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AIoT 连接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03D78-F1E8-4149-8C17-A0EB3F03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193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11.187 亿台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28A44-A180-44FD-9BE5-665A9765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A55E"/>
                </a:solidFill>
              </a:defRPr>
            </a:pPr>
            <a:r>
              <a:rPr sz="825" b="0">
                <a:solidFill>
                  <a:srgbClr val="C8A55E"/>
                </a:solidFill>
              </a:rPr>
              <a:t>同比 +18.5%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AE234-0C4D-4DA5-845F-B967E626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25146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73A93-968F-4B1C-9C96-9F611D40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479F1-DDAB-419B-BDBF-1856D31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全球 MAU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37CF2-7CC1-4624-85F9-A441195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7.462 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8900A-D590-4AFB-AA92-441029AC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C6C2"/>
                </a:solidFill>
              </a:defRPr>
            </a:pPr>
            <a:r>
              <a:rPr sz="825" b="0">
                <a:solidFill>
                  <a:srgbClr val="55C6C2"/>
                </a:solidFill>
              </a:rPr>
              <a:t>同比 +3.8%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65352-1289-4C73-BD06-4DE72A1F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5146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4070C-37B6-44F7-B7A4-46DC06A1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CEAC3-0CA2-4D07-94D8-10EAADAC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研发投入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B75E0-919F-4CDB-A268-7F1BF8F0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89.54 亿元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35A99-8453-4ACA-B50A-60C0448E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C39A"/>
                </a:solidFill>
              </a:defRPr>
            </a:pPr>
            <a:r>
              <a:rPr sz="825" b="0">
                <a:solidFill>
                  <a:srgbClr val="78C39A"/>
                </a:solidFill>
              </a:rPr>
              <a:t>同比 +33.4%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94EB10-CF43-4E74-BA59-7D442F0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A55E"/>
                </a:solidFill>
              </a:defRPr>
            </a:pPr>
            <a:r>
              <a:rPr sz="1125" b="1">
                <a:solidFill>
                  <a:srgbClr val="C8A55E"/>
                </a:solidFill>
              </a:rPr>
              <a:t>护城河五源（研究评分）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D61B5-5842-457E-89BB-D56602C0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D6F3B1-8B23-4922-A1D2-B951BDBD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0481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C5194-2BE8-49A4-A3BA-1A87356D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品牌 / 专利 / 研发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680ABA-0334-4CB2-BA44-0513474E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48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F0E8"/>
                </a:solidFill>
              </a:defRPr>
            </a:pPr>
            <a:r>
              <a:rPr sz="900" b="1">
                <a:solidFill>
                  <a:srgbClr val="F4F0E8"/>
                </a:solidFill>
              </a:rPr>
              <a:t>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9070CD-1851-49C0-9E63-562CEB4E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9F79A4-C0E7-44E1-AFAB-041047D1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342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4A652A-CDD4-4BAB-9F07-2970B156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用户与生态转换成本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D416D0-E168-4045-93A4-35AD9956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005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F0E8"/>
                </a:solidFill>
              </a:defRPr>
            </a:pPr>
            <a:r>
              <a:rPr sz="900" b="1">
                <a:solidFill>
                  <a:srgbClr val="F4F0E8"/>
                </a:solidFill>
              </a:rPr>
              <a:t>较强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2B0F74-012A-47DD-9765-F81EF9D3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F72EBF-8759-4408-A809-7B08F4AE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6668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4D8D09-17B5-42CF-8473-8FF092A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网络效应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27D957-2F42-4548-A003-75E2681C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52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F0E8"/>
                </a:solidFill>
              </a:defRPr>
            </a:pPr>
            <a:r>
              <a:rPr sz="900" b="1">
                <a:solidFill>
                  <a:srgbClr val="F4F0E8"/>
                </a:solidFill>
              </a:rPr>
              <a:t>有限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9EE1C6-1418-4B0E-96C5-611EC06B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BB0989-5144-4DC3-830C-2F2C06B5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3714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9575F2-B376-4723-87AF-B442B974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规模与供应链成本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86AB52-BE43-4123-AE49-FFF85BBC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053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F0E8"/>
                </a:solidFill>
              </a:defRPr>
            </a:pPr>
            <a:r>
              <a:rPr sz="900" b="1">
                <a:solidFill>
                  <a:srgbClr val="F4F0E8"/>
                </a:solidFill>
              </a:rPr>
              <a:t>较强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4A8ED0-2E4E-498F-AF83-7536CCAA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503FE3-7AE6-426D-97E6-A994616B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952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CECF1A-FD02-4343-9A32-BA4DE3D8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有效规模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79F18C-B372-44CB-9965-59E8A90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57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F0E8"/>
                </a:solidFill>
              </a:defRPr>
            </a:pPr>
            <a:r>
              <a:rPr sz="900" b="1">
                <a:solidFill>
                  <a:srgbClr val="F4F0E8"/>
                </a:solidFill>
              </a:rPr>
              <a:t>中等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7FD023-F074-44CB-B2F8-65B14471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33800"/>
            <a:ext cx="4953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98BE53-C871-4C38-BEAB-A728648E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81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0E8"/>
                </a:solidFill>
              </a:defRPr>
            </a:pPr>
            <a:r>
              <a:rPr sz="1350" b="1">
                <a:solidFill>
                  <a:srgbClr val="F4F0E8"/>
                </a:solidFill>
              </a:rPr>
              <a:t>边界比评分更重要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C8D674-E024-42DD-AA52-763FFDD3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434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63AEA7-31A3-42B9-8BDB-A08E44BA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8"/>
                </a:solidFill>
              </a:defRPr>
            </a:pPr>
            <a:r>
              <a:rPr sz="1125" b="0">
                <a:solidFill>
                  <a:srgbClr val="F4F0E8"/>
                </a:solidFill>
              </a:rPr>
              <a:t>设备数量增长并不自动提高每位用户价值；网络效应只给有限分。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4F1899-5A9B-4F51-9757-82412335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38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8CDDDF-CFCE-4CE0-B8AA-0091B9B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8"/>
                </a:solidFill>
              </a:defRPr>
            </a:pPr>
            <a:r>
              <a:rPr sz="1125" b="0">
                <a:solidFill>
                  <a:srgbClr val="F4F0E8"/>
                </a:solidFill>
              </a:rPr>
              <a:t>智能手机 ASP 为 1,310.1 元、同比 +8.2%，但量价能否同时成立仍需跟踪。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DA23C6-6E67-4E01-8B8A-5FAED34E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34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C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078D55-D9A1-4C86-A5BE-67836424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48300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8"/>
                </a:solidFill>
              </a:defRPr>
            </a:pPr>
            <a:r>
              <a:rPr sz="1125" b="0">
                <a:solidFill>
                  <a:srgbClr val="F4F0E8"/>
                </a:solidFill>
              </a:rPr>
              <a:t>研发高增长是多业务并行的必要条件，也会抬高短期利润门槛。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3DF911-E1D0-44AF-9862-4BAA5F54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29AD0D-99B4-4390-8C31-0B5AD077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AB1B5"/>
                </a:solidFill>
              </a:defRPr>
            </a:pPr>
            <a:r>
              <a:rPr sz="638" b="0">
                <a:solidFill>
                  <a:srgbClr val="AAB1B5"/>
                </a:solidFill>
              </a:rPr>
              <a:t>来源：小米 2026Q1 公告 / 演示材料（A）｜评分为研究判断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FB2C8F-2F1A-4D28-BD1F-D4F20D86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8652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7D3A5"/>
                </a:solidFill>
              </a:defRPr>
            </a:pPr>
            <a:r>
              <a:rPr sz="675" b="0">
                <a:solidFill>
                  <a:srgbClr val="E7D3A5"/>
                </a:solidFill>
              </a:rPr>
              <a:t>演示样张｜未批准公开｜不构成投资建议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80350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C69BD4-9802-410C-BB82-C79F4134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A55E"/>
                </a:solidFill>
              </a:defRPr>
            </a:pPr>
            <a:r>
              <a:rPr sz="1050" b="1">
                <a:solidFill>
                  <a:srgbClr val="C8A55E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F36F2-46F6-4955-B720-5614DC09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EV ECONOMICS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B14BF-788A-4AD7-9716-87A05234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0D726-F931-4199-AB3B-E6E486AF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8"/>
                </a:solidFill>
              </a:defRPr>
            </a:pPr>
            <a:r>
              <a:rPr sz="2250" b="1">
                <a:solidFill>
                  <a:srgbClr val="F4F0E8"/>
                </a:solidFill>
              </a:rPr>
              <a:t>汽车毛利率已经站住，下一道门槛是经营亏损收窄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2C49B-47B4-4E75-833B-6ABFCCDD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1B5"/>
                </a:solidFill>
              </a:defRPr>
            </a:pPr>
            <a:r>
              <a:rPr sz="1125" b="0">
                <a:solidFill>
                  <a:srgbClr val="AAB1B5"/>
                </a:solidFill>
              </a:rPr>
              <a:t>规模、价格、毛利与费用必须同时进入验证链。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14C39-4F80-4BBC-B8DF-1A682577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E26E9-2D3F-4EB7-B18F-9A038E18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3A6FB-E1C1-41CC-A2F2-683B2C7F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交付量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B518F-2E38-4C39-8599-F6C11559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80,856 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C26C1-F501-4884-8482-60CE0B59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C39A"/>
                </a:solidFill>
              </a:defRPr>
            </a:pPr>
            <a:r>
              <a:rPr sz="825" b="0">
                <a:solidFill>
                  <a:srgbClr val="78C39A"/>
                </a:solidFill>
              </a:rPr>
              <a:t>同比 +6.6%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71BA0-EBFC-4993-8A08-72762050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3835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8A0BB-CC14-423D-A7B3-B0938070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383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A46FA-76AD-47AE-8322-16A388C6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907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新业务毛利率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32C2E-C2FA-4F7B-9991-311A5644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20.1%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928AE-84CF-4468-8912-55846DE9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146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C6C2"/>
                </a:solidFill>
              </a:defRPr>
            </a:pPr>
            <a:r>
              <a:rPr sz="825" b="0">
                <a:solidFill>
                  <a:srgbClr val="55C6C2"/>
                </a:solidFill>
              </a:rPr>
              <a:t>初步验证产品与定价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26519-ED7D-49EE-9D7E-6351C332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656A0-A5E8-4CAE-9226-78754B2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CA083-8498-44A5-97CE-CDAFB01A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新业务经营亏损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F37F5-4B0C-411F-89BE-D48BA66C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</a:defRPr>
            </a:pPr>
            <a:r>
              <a:rPr sz="2025" b="1">
                <a:solidFill>
                  <a:srgbClr val="F4F0E8"/>
                </a:solidFill>
              </a:rPr>
              <a:t>−31 亿元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21BA85-AF5D-499E-92E3-F0A68416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97878"/>
                </a:solidFill>
              </a:defRPr>
            </a:pPr>
            <a:r>
              <a:rPr sz="825" b="0">
                <a:solidFill>
                  <a:srgbClr val="E97878"/>
                </a:solidFill>
              </a:rPr>
              <a:t>尚未跨过盈亏平衡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F83E4-287A-4EA4-A379-745CA24E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A55E"/>
                </a:solidFill>
              </a:defRPr>
            </a:pPr>
            <a:r>
              <a:rPr sz="1050" b="1">
                <a:solidFill>
                  <a:srgbClr val="C8A55E"/>
                </a:solidFill>
              </a:rPr>
              <a:t>验证路径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D08D2-1928-4769-81D0-80A48AA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247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74B64-2988-4AFF-95E1-997D6F06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C39A"/>
                </a:solidFill>
              </a:defRPr>
            </a:pPr>
            <a:r>
              <a:rPr sz="1275" b="1">
                <a:solidFill>
                  <a:srgbClr val="78C39A"/>
                </a:solidFill>
              </a:rPr>
              <a:t>交付规模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D56B9-E007-4834-BC54-B5A86867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0E8"/>
                </a:solidFill>
              </a:defRPr>
            </a:pPr>
            <a:r>
              <a:rPr sz="975" b="0">
                <a:solidFill>
                  <a:srgbClr val="F4F0E8"/>
                </a:solidFill>
              </a:rPr>
              <a:t>产能利用率与交付稳定性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BAFCA5-BDC9-4A92-8D7F-54EC1843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720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A55E"/>
                </a:solidFill>
              </a:defRPr>
            </a:pPr>
            <a:r>
              <a:rPr sz="1500" b="1">
                <a:solidFill>
                  <a:srgbClr val="C8A55E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47826-1AA7-46B3-BABE-017816CF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71950"/>
            <a:ext cx="2247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8ACF9-A009-4B15-AAA3-372E2D57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43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C6C2"/>
                </a:solidFill>
              </a:defRPr>
            </a:pPr>
            <a:r>
              <a:rPr sz="1275" b="1">
                <a:solidFill>
                  <a:srgbClr val="55C6C2"/>
                </a:solidFill>
              </a:rPr>
              <a:t>单车毛利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1C5544-8F49-409A-A233-4382201F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863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0E8"/>
                </a:solidFill>
              </a:defRPr>
            </a:pPr>
            <a:r>
              <a:rPr sz="975" b="0">
                <a:solidFill>
                  <a:srgbClr val="F4F0E8"/>
                </a:solidFill>
              </a:rPr>
              <a:t>价格、物料与产品结构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4FADAA-642A-4A70-889D-F8800F2B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720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A55E"/>
                </a:solidFill>
              </a:defRPr>
            </a:pPr>
            <a:r>
              <a:rPr sz="1500" b="1">
                <a:solidFill>
                  <a:srgbClr val="C8A55E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03FD7E-F4F1-4AAA-9C83-B140172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2247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104EA4-A159-497F-B723-0107E0E3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43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A55E"/>
                </a:solidFill>
              </a:defRPr>
            </a:pPr>
            <a:r>
              <a:rPr sz="1275" b="1">
                <a:solidFill>
                  <a:srgbClr val="C8A55E"/>
                </a:solidFill>
              </a:rPr>
              <a:t>费用效率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26C91F-1B84-444C-8D48-6196D38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863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0E8"/>
                </a:solidFill>
              </a:defRPr>
            </a:pPr>
            <a:r>
              <a:rPr sz="975" b="0">
                <a:solidFill>
                  <a:srgbClr val="F4F0E8"/>
                </a:solidFill>
              </a:rPr>
              <a:t>研发 / 渠道摊薄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1E7060-2A02-4406-AECF-AEA095C6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A55E"/>
                </a:solidFill>
              </a:defRPr>
            </a:pPr>
            <a:r>
              <a:rPr sz="1500" b="1">
                <a:solidFill>
                  <a:srgbClr val="C8A55E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C1FF8A-C8CC-4178-A717-5521D774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2247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1ECC99-5831-4606-9F88-594DE786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878"/>
                </a:solidFill>
              </a:defRPr>
            </a:pPr>
            <a:r>
              <a:rPr sz="1275" b="1">
                <a:solidFill>
                  <a:srgbClr val="E97878"/>
                </a:solidFill>
              </a:rPr>
              <a:t>经营利润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2D051E-5201-4483-B34D-978A7899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0E8"/>
                </a:solidFill>
              </a:defRPr>
            </a:pPr>
            <a:r>
              <a:rPr sz="975" b="0">
                <a:solidFill>
                  <a:srgbClr val="F4F0E8"/>
                </a:solidFill>
              </a:rPr>
              <a:t>最终现金回报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2A1ECC-BAAD-436F-959F-EF687490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9982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32526"/>
          </a:solidFill>
          <a:ln xmlns:a="http://schemas.openxmlformats.org/drawingml/2006/main" w="9525">
            <a:solidFill>
              <a:srgbClr val="E9787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F4B11E-773F-4049-96F1-E99EA5E8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963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0E8"/>
                </a:solidFill>
              </a:defRPr>
            </a:pPr>
            <a:r>
              <a:rPr sz="1125" b="1">
                <a:solidFill>
                  <a:srgbClr val="F4F0E8"/>
                </a:solidFill>
              </a:rPr>
              <a:t>证伪条件：交付增长停滞、毛利率持续下滑，或亏损未随规模扩大而收窄。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4C3DD0-E34E-459C-AA67-841A3B9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B87854-7CCF-47CD-BC42-983514DC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AB1B5"/>
                </a:solidFill>
              </a:defRPr>
            </a:pPr>
            <a:r>
              <a:rPr sz="638" b="0">
                <a:solidFill>
                  <a:srgbClr val="AAB1B5"/>
                </a:solidFill>
              </a:rPr>
              <a:t>来源：小米集团 2026Q1 业绩公告及演示材料（A）。 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AFFC48-AB0F-4335-B764-7BC30B83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8652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7D3A5"/>
                </a:solidFill>
              </a:defRPr>
            </a:pPr>
            <a:r>
              <a:rPr sz="675" b="0">
                <a:solidFill>
                  <a:srgbClr val="E7D3A5"/>
                </a:solidFill>
              </a:rPr>
              <a:t>演示样张｜未批准公开｜不构成投资建议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230483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A0B5BE-F69C-414C-9651-EC0482E4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A55E"/>
                </a:solidFill>
              </a:defRPr>
            </a:pPr>
            <a:r>
              <a:rPr sz="1050" b="1">
                <a:solidFill>
                  <a:srgbClr val="C8A55E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8F1A2-F52E-46F5-84E7-8AF69805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VALUATION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0F456-83B4-45A5-AA4D-BDC62ED3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7EACA-6D8D-4C48-950E-0A92C3A1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8"/>
                </a:solidFill>
              </a:defRPr>
            </a:pPr>
            <a:r>
              <a:rPr sz="2250" b="1">
                <a:solidFill>
                  <a:srgbClr val="F4F0E8"/>
                </a:solidFill>
              </a:rPr>
              <a:t>先分部，再谈总市值；本样张不制造一个不可核验的‘便宜’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E799B-0919-4A67-992F-F1AAAA10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1B5"/>
                </a:solidFill>
              </a:defRPr>
            </a:pPr>
            <a:r>
              <a:rPr sz="1125" b="0">
                <a:solidFill>
                  <a:srgbClr val="AAB1B5"/>
                </a:solidFill>
              </a:rPr>
              <a:t>同日价格、股本与历史分位缺一项，估值结论就应降级。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61B0B-7DD1-4BD9-9BA1-6927F9FF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813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61E96-443A-4B32-9824-34EE86BB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A55E"/>
                </a:solidFill>
              </a:defRPr>
            </a:pPr>
            <a:r>
              <a:rPr sz="1350" b="1">
                <a:solidFill>
                  <a:srgbClr val="C8A55E"/>
                </a:solidFill>
              </a:rPr>
              <a:t>手机 × AIoT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93EC5-4C21-400A-82BE-6697CE9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0E8"/>
                </a:solidFill>
              </a:defRPr>
            </a:pPr>
            <a:r>
              <a:rPr sz="1050" b="1">
                <a:solidFill>
                  <a:srgbClr val="F4F0E8"/>
                </a:solidFill>
              </a:rPr>
              <a:t>成熟硬件与生态入口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82C37-D262-46AA-A80C-BA77E441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DDCDC-ADB3-4A7B-B76F-4D13DCBB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1B5"/>
                </a:solidFill>
              </a:defRPr>
            </a:pPr>
            <a:r>
              <a:rPr sz="975" b="0">
                <a:solidFill>
                  <a:srgbClr val="AAB1B5"/>
                </a:solidFill>
              </a:rPr>
              <a:t>适配：PE / EV·EBITDA + 周期校验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56DF9-B2EF-4E5C-8D96-AA62D180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52650"/>
            <a:ext cx="31813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4C853-EFE2-474E-8633-48511D29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622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C6C2"/>
                </a:solidFill>
              </a:defRPr>
            </a:pPr>
            <a:r>
              <a:rPr sz="1350" b="1">
                <a:solidFill>
                  <a:srgbClr val="55C6C2"/>
                </a:solidFill>
              </a:rPr>
              <a:t>互联网服务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0A0F9-8CF9-4894-9D1E-096D760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0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0E8"/>
                </a:solidFill>
              </a:defRPr>
            </a:pPr>
            <a:r>
              <a:rPr sz="1050" b="1">
                <a:solidFill>
                  <a:srgbClr val="F4F0E8"/>
                </a:solidFill>
              </a:rPr>
              <a:t>高毛利、现金流属性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D7F51-710F-483D-A6B1-9C5F1442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194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0561B-8DDE-4F81-92B6-16788402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90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1B5"/>
                </a:solidFill>
              </a:defRPr>
            </a:pPr>
            <a:r>
              <a:rPr sz="975" b="0">
                <a:solidFill>
                  <a:srgbClr val="AAB1B5"/>
                </a:solidFill>
              </a:rPr>
              <a:t>适配：PE + MAU / ARPU 质量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90E16-A510-4D13-89C8-C59652D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52650"/>
            <a:ext cx="31813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C9632-741F-4055-B030-8E6BD7C6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C39A"/>
                </a:solidFill>
              </a:defRPr>
            </a:pPr>
            <a:r>
              <a:rPr sz="1350" b="1">
                <a:solidFill>
                  <a:srgbClr val="78C39A"/>
                </a:solidFill>
              </a:rPr>
              <a:t>EV / AI / 新业务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052B6-29AC-40B7-BDF9-A302F7CA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0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0E8"/>
                </a:solidFill>
              </a:defRPr>
            </a:pPr>
            <a:r>
              <a:rPr sz="1050" b="1">
                <a:solidFill>
                  <a:srgbClr val="F4F0E8"/>
                </a:solidFill>
              </a:rPr>
              <a:t>高增长、仍亏损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2BC67-5739-447D-8228-EB786EDA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D508E-CC33-48A9-A452-04B6B4EA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90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1B5"/>
                </a:solidFill>
              </a:defRPr>
            </a:pPr>
            <a:r>
              <a:rPr sz="975" b="0">
                <a:solidFill>
                  <a:srgbClr val="AAB1B5"/>
                </a:solidFill>
              </a:rPr>
              <a:t>适配：PS / EV·Sales + 单位经济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8403F-E465-4B16-8576-7266D657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9982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302B20"/>
          </a:solidFill>
          <a:ln xmlns:a="http://schemas.openxmlformats.org/drawingml/2006/main" w="9525">
            <a:solidFill>
              <a:srgbClr val="C8A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605CD-B4DD-45BA-BED4-07FB5AB6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A55E"/>
                </a:solidFill>
              </a:defRPr>
            </a:pPr>
            <a:r>
              <a:rPr sz="1725" b="1">
                <a:solidFill>
                  <a:srgbClr val="C8A55E"/>
                </a:solidFill>
              </a:rPr>
              <a:t>估值 Gate：未通过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4742F-B528-4EBC-B532-24EF8FDC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0E8"/>
                </a:solidFill>
              </a:defRPr>
            </a:pPr>
            <a:r>
              <a:rPr sz="1200" b="0">
                <a:solidFill>
                  <a:srgbClr val="F4F0E8"/>
                </a:solidFill>
              </a:rPr>
              <a:t>缺少 2026-07-10 同日可复核的港股收盘价、稀释股本与历史估值序列。因而不输出 PE/PB 当前值、历史分位、目标价或贵/便宜判断。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7A800-B824-43F3-8883-65CF2B0B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916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D3A5"/>
                </a:solidFill>
              </a:defRPr>
            </a:pPr>
            <a:r>
              <a:rPr sz="1050" b="1">
                <a:solidFill>
                  <a:srgbClr val="E7D3A5"/>
                </a:solidFill>
              </a:rPr>
              <a:t>这不是能力缺失，而是研究边界：数据可核验后，才进入纵向分位、横向可比与反向 DCF。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946E6-655D-4E1B-95C0-2A2566B5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900883-E1C2-470D-BA2B-EC14A97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AB1B5"/>
                </a:solidFill>
              </a:defRPr>
            </a:pPr>
            <a:r>
              <a:rPr sz="638" b="0">
                <a:solidFill>
                  <a:srgbClr val="AAB1B5"/>
                </a:solidFill>
              </a:rPr>
              <a:t>来源：小米 2025 年报、2026Q1 公告（A）｜估值时效门禁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F6EA1F-8818-4034-BA57-916B9359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8652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7D3A5"/>
                </a:solidFill>
              </a:defRPr>
            </a:pPr>
            <a:r>
              <a:rPr sz="675" b="0">
                <a:solidFill>
                  <a:srgbClr val="E7D3A5"/>
                </a:solidFill>
              </a:rPr>
              <a:t>演示样张｜未批准公开｜不构成投资建议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1213651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A42E73-1916-4D3C-9B3D-19912C65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A55E"/>
                </a:solidFill>
              </a:defRPr>
            </a:pPr>
            <a:r>
              <a:rPr sz="1050" b="1">
                <a:solidFill>
                  <a:srgbClr val="C8A55E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35049-494F-4ED9-9CAF-401CCE9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RISK SCAN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5929B-D504-4B87-843E-81D93615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27CE5-D059-4E58-8193-C034C570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8"/>
                </a:solidFill>
              </a:defRPr>
            </a:pPr>
            <a:r>
              <a:rPr sz="2250" b="1">
                <a:solidFill>
                  <a:srgbClr val="F4F0E8"/>
                </a:solidFill>
              </a:rPr>
              <a:t>当前最硬的反面证据来自手机量、利润和汽车亏损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D7FE2-38D2-4DB8-AAD9-A3CDA22E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1B5"/>
                </a:solidFill>
              </a:defRPr>
            </a:pPr>
            <a:r>
              <a:rPr sz="1125" b="0">
                <a:solidFill>
                  <a:srgbClr val="AAB1B5"/>
                </a:solidFill>
              </a:rPr>
              <a:t>把已发生事实与潜在风险分开，避免把‘可能’写成‘已经’。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EA446-67FB-42A7-8FAF-9D1A6DCA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E508B-4FAD-452F-B48C-877F73E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193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568E7-4569-45F8-8D25-F86EAFF7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1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证据 / 提示项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16D96-C484-4AF4-869C-4105558F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缓释因素（不等于消除）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95071-BE24-48FD-9D3C-FAB33177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9982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F91CC-5ED9-4C1E-9DFE-6887CF03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0E8"/>
                </a:solidFill>
              </a:defRPr>
            </a:pPr>
            <a:r>
              <a:rPr sz="1125" b="1">
                <a:solidFill>
                  <a:srgbClr val="F4F0E8"/>
                </a:solidFill>
              </a:rPr>
              <a:t>手机量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9C75E-06DB-4CFE-ACA8-E5C44196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7650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E978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A600C-E0BC-4A2A-B6D8-74734A6D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336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97878"/>
                </a:solidFill>
              </a:defRPr>
            </a:pPr>
            <a:r>
              <a:rPr sz="825" b="1">
                <a:solidFill>
                  <a:srgbClr val="E97878"/>
                </a:solidFill>
              </a:rPr>
              <a:t>已发生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DF13E-8343-4C33-9024-98D8BF72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14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7878"/>
                </a:solidFill>
              </a:defRPr>
            </a:pPr>
            <a:r>
              <a:rPr sz="1125" b="1">
                <a:solidFill>
                  <a:srgbClr val="E97878"/>
                </a:solidFill>
              </a:rPr>
              <a:t>出货同比 −19.2%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F8CAB-F676-4D28-9BEE-7A3B72FD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0E8"/>
                </a:solidFill>
              </a:defRPr>
            </a:pPr>
            <a:r>
              <a:rPr sz="1050" b="0">
                <a:solidFill>
                  <a:srgbClr val="F4F0E8"/>
                </a:solidFill>
              </a:rPr>
              <a:t>高端化 / ASP +8.2%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C37E0-F049-4027-818B-97692027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9982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AC943-32B6-4961-9677-7F57E0C2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0E8"/>
                </a:solidFill>
              </a:defRPr>
            </a:pPr>
            <a:r>
              <a:rPr sz="1125" b="1">
                <a:solidFill>
                  <a:srgbClr val="F4F0E8"/>
                </a:solidFill>
              </a:rPr>
              <a:t>利润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57126-CFF2-453D-B9B6-C0C156B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E978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F9175-B1D8-48D6-AB15-C48E9360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97878"/>
                </a:solidFill>
              </a:defRPr>
            </a:pPr>
            <a:r>
              <a:rPr sz="825" b="1">
                <a:solidFill>
                  <a:srgbClr val="E97878"/>
                </a:solidFill>
              </a:rPr>
              <a:t>已发生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4D279-4CD1-4CD1-9167-B3AE18BB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7878"/>
                </a:solidFill>
              </a:defRPr>
            </a:pPr>
            <a:r>
              <a:rPr sz="1125" b="1">
                <a:solidFill>
                  <a:srgbClr val="E97878"/>
                </a:solidFill>
              </a:rPr>
              <a:t>经调整净利 −43.1%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94CFC-B1F5-4650-BCC0-230BB72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0E8"/>
                </a:solidFill>
              </a:defRPr>
            </a:pPr>
            <a:r>
              <a:rPr sz="1050" b="0">
                <a:solidFill>
                  <a:srgbClr val="F4F0E8"/>
                </a:solidFill>
              </a:rPr>
              <a:t>费用投入与新业务爬坡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FC7A05-60FC-417A-BA40-45B1FF4D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9982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937D8-CFF4-4D20-A87B-A910968E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0E8"/>
                </a:solidFill>
              </a:defRPr>
            </a:pPr>
            <a:r>
              <a:rPr sz="1125" b="1">
                <a:solidFill>
                  <a:srgbClr val="F4F0E8"/>
                </a:solidFill>
              </a:rPr>
              <a:t>汽车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724C07-93B3-41FE-B3AB-923814E3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000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C8A5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3EB43-171F-4279-B9A5-036BA40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A55E"/>
                </a:solidFill>
              </a:defRPr>
            </a:pPr>
            <a:r>
              <a:rPr sz="825" b="1">
                <a:solidFill>
                  <a:srgbClr val="C8A55E"/>
                </a:solidFill>
              </a:rPr>
              <a:t>已发生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F2CCE3-3958-45FC-9721-0F4A0777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A55E"/>
                </a:solidFill>
              </a:defRPr>
            </a:pPr>
            <a:r>
              <a:rPr sz="1125" b="1">
                <a:solidFill>
                  <a:srgbClr val="C8A55E"/>
                </a:solidFill>
              </a:rPr>
              <a:t>经营亏损 31 亿元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33593F-4B97-4026-A3B6-22F772AA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0E8"/>
                </a:solidFill>
              </a:defRPr>
            </a:pPr>
            <a:r>
              <a:rPr sz="1050" b="0">
                <a:solidFill>
                  <a:srgbClr val="F4F0E8"/>
                </a:solidFill>
              </a:rPr>
              <a:t>毛利率 20.1%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084EF-81A8-4DC5-A81B-FFE1BA90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9982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CD964-8487-4E6B-BB74-031AF5F5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0E8"/>
                </a:solidFill>
              </a:defRPr>
            </a:pPr>
            <a:r>
              <a:rPr sz="1125" b="1">
                <a:solidFill>
                  <a:srgbClr val="F4F0E8"/>
                </a:solidFill>
              </a:rPr>
              <a:t>竞争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9EC1C-46D8-4122-B76E-7FFE6005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767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C8A5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14C5D9-3479-4E17-AA85-4B99E962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339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A55E"/>
                </a:solidFill>
              </a:defRPr>
            </a:pPr>
            <a:r>
              <a:rPr sz="825" b="1">
                <a:solidFill>
                  <a:srgbClr val="C8A55E"/>
                </a:solidFill>
              </a:rPr>
              <a:t>潜在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6E0408-928F-43D0-AB0F-2852F4AA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14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A55E"/>
                </a:solidFill>
              </a:defRPr>
            </a:pPr>
            <a:r>
              <a:rPr sz="1125" b="1">
                <a:solidFill>
                  <a:srgbClr val="C8A55E"/>
                </a:solidFill>
              </a:rPr>
              <a:t>手机与 EV 价格压力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4E9005-3778-4A01-BE82-3EB23689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0E8"/>
                </a:solidFill>
              </a:defRPr>
            </a:pPr>
            <a:r>
              <a:rPr sz="1050" b="0">
                <a:solidFill>
                  <a:srgbClr val="F4F0E8"/>
                </a:solidFill>
              </a:rPr>
              <a:t>品牌、供应链、研发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A9841-A99E-4288-AE84-C3C80D9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9982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19E4C8-BBF6-4522-946C-55877F9F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0E8"/>
                </a:solidFill>
              </a:defRPr>
            </a:pPr>
            <a:r>
              <a:rPr sz="1125" b="1">
                <a:solidFill>
                  <a:srgbClr val="F4F0E8"/>
                </a:solidFill>
              </a:rPr>
              <a:t>治理 / VIE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AC16E2-C9EE-4801-A3A8-D8CFDB7B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4350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55C6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344F0A-B236-4AB7-82FA-15111221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006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C6C2"/>
                </a:solidFill>
              </a:defRPr>
            </a:pPr>
            <a:r>
              <a:rPr sz="825" b="1">
                <a:solidFill>
                  <a:srgbClr val="55C6C2"/>
                </a:solidFill>
              </a:rPr>
              <a:t>结构性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71C8EA-0116-408B-8EBE-A20EAB2E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81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C6C2"/>
                </a:solidFill>
              </a:defRPr>
            </a:pPr>
            <a:r>
              <a:rPr sz="1125" b="1">
                <a:solidFill>
                  <a:srgbClr val="55C6C2"/>
                </a:solidFill>
              </a:rPr>
              <a:t>WVR 与协议控制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1639F3-7040-406A-A574-24CA6F1F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81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0E8"/>
                </a:solidFill>
              </a:defRPr>
            </a:pPr>
            <a:r>
              <a:rPr sz="1050" b="0">
                <a:solidFill>
                  <a:srgbClr val="F4F0E8"/>
                </a:solidFill>
              </a:rPr>
              <a:t>披露与监管框架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20D120-86BA-42C0-89B7-7AA4CA8C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82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32526"/>
          </a:solidFill>
          <a:ln xmlns:a="http://schemas.openxmlformats.org/drawingml/2006/main" w="9525">
            <a:solidFill>
              <a:srgbClr val="E978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4CFF57-6AB7-45BC-B034-A327CE0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0E8"/>
                </a:solidFill>
              </a:defRPr>
            </a:pPr>
            <a:r>
              <a:rPr sz="975" b="1">
                <a:solidFill>
                  <a:srgbClr val="F4F0E8"/>
                </a:solidFill>
              </a:rPr>
              <a:t>未做爆雷预测：本页只呈现公开信息中的风险方向、状态与可观测指标。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87D83C-0FD9-40CD-A222-B6A1A9AC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FB7A51-59F2-428D-A5EF-07102044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AB1B5"/>
                </a:solidFill>
              </a:defRPr>
            </a:pPr>
            <a:r>
              <a:rPr sz="638" b="0">
                <a:solidFill>
                  <a:srgbClr val="AAB1B5"/>
                </a:solidFill>
              </a:rPr>
              <a:t>来源：小米集团 2025 年报、2026Q1 业绩公告（A）；风险方向为研究判断。 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22C14F-9E49-4877-A9CF-988E20F5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8652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7D3A5"/>
                </a:solidFill>
              </a:defRPr>
            </a:pPr>
            <a:r>
              <a:rPr sz="675" b="0">
                <a:solidFill>
                  <a:srgbClr val="E7D3A5"/>
                </a:solidFill>
              </a:rPr>
              <a:t>演示样张｜未批准公开｜不构成投资建议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2127449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3E6131-F6B3-4359-BAE4-A4131D3A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A55E"/>
                </a:solidFill>
              </a:defRPr>
            </a:pPr>
            <a:r>
              <a:rPr sz="1050" b="1">
                <a:solidFill>
                  <a:srgbClr val="C8A55E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7EB2E-6773-4C98-8C88-4C2DF417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1B5"/>
                </a:solidFill>
              </a:defRPr>
            </a:pPr>
            <a:r>
              <a:rPr sz="900" b="1">
                <a:solidFill>
                  <a:srgbClr val="AAB1B5"/>
                </a:solidFill>
              </a:rPr>
              <a:t>TRACKING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53668-F2D2-41D4-A393-0677836A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D2F94-FACA-45A1-A56A-80F04E60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8"/>
                </a:solidFill>
              </a:defRPr>
            </a:pPr>
            <a:r>
              <a:rPr sz="2250" b="1">
                <a:solidFill>
                  <a:srgbClr val="F4F0E8"/>
                </a:solidFill>
              </a:rPr>
              <a:t>接下来只跟踪六个变量，它们决定逻辑增强还是证伪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3D56A-60DA-4DEF-8CEC-4A66DB80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1B5"/>
                </a:solidFill>
              </a:defRPr>
            </a:pPr>
            <a:r>
              <a:rPr sz="1125" b="0">
                <a:solidFill>
                  <a:srgbClr val="AAB1B5"/>
                </a:solidFill>
              </a:rPr>
              <a:t>研究输出的终点不是口号，而是一套可复查的更新条件。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1FF04-D5E5-4107-86FA-5EC799E0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914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C07C5-A78D-4EE4-A493-714DBB70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A55E"/>
                </a:solidFill>
              </a:defRPr>
            </a:pPr>
            <a:r>
              <a:rPr sz="1350" b="1">
                <a:solidFill>
                  <a:srgbClr val="C8A55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6B24A-B875-441D-AD3E-399FAC64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71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</a:defRPr>
            </a:pPr>
            <a:r>
              <a:rPr sz="1275" b="1">
                <a:solidFill>
                  <a:srgbClr val="F4F0E8"/>
                </a:solidFill>
              </a:rPr>
              <a:t>手机出货与 ASP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CA00E-ECCF-4D8D-B7A1-901445AF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1B5"/>
                </a:solidFill>
              </a:defRPr>
            </a:pPr>
            <a:r>
              <a:rPr sz="975" b="0">
                <a:solidFill>
                  <a:srgbClr val="AAB1B5"/>
                </a:solidFill>
              </a:rPr>
              <a:t>量价能否同时改善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572FA-C0EA-46EE-89AF-14C80E95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19300"/>
            <a:ext cx="4914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38026-AB28-4486-81B6-4C443EC2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A55E"/>
                </a:solidFill>
              </a:defRPr>
            </a:pPr>
            <a:r>
              <a:rPr sz="1350" b="1">
                <a:solidFill>
                  <a:srgbClr val="C8A55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9E19D-3438-4202-87C0-454F7974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</a:defRPr>
            </a:pPr>
            <a:r>
              <a:rPr sz="1275" b="1">
                <a:solidFill>
                  <a:srgbClr val="F4F0E8"/>
                </a:solidFill>
              </a:rPr>
              <a:t>AIoT 连接与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1B096-FC1B-4416-AA69-A118F5AA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955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1B5"/>
                </a:solidFill>
              </a:defRPr>
            </a:pPr>
            <a:r>
              <a:rPr sz="975" b="0">
                <a:solidFill>
                  <a:srgbClr val="AAB1B5"/>
                </a:solidFill>
              </a:rPr>
              <a:t>生态规模能否转化为服务收入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D8208-8E0F-4C8C-BECF-4D45E51E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914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927DD-99A3-4898-A32D-142A171B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A55E"/>
                </a:solidFill>
              </a:defRPr>
            </a:pPr>
            <a:r>
              <a:rPr sz="1350" b="1">
                <a:solidFill>
                  <a:srgbClr val="C8A55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39C37-9960-4FDB-AF18-1F3FB6D1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</a:defRPr>
            </a:pPr>
            <a:r>
              <a:rPr sz="1275" b="1">
                <a:solidFill>
                  <a:srgbClr val="F4F0E8"/>
                </a:solidFill>
              </a:rPr>
              <a:t>EV 交付与毛利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3084B-AFC8-4C1B-B572-5D5A73CE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1B5"/>
                </a:solidFill>
              </a:defRPr>
            </a:pPr>
            <a:r>
              <a:rPr sz="975" b="0">
                <a:solidFill>
                  <a:srgbClr val="AAB1B5"/>
                </a:solidFill>
              </a:rPr>
              <a:t>产品力能否穿越价格竞争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C3BB0-D68B-4380-BE31-DAB8317B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86100"/>
            <a:ext cx="4914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302C2-97B4-482E-AE76-15FCAB7B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575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A55E"/>
                </a:solidFill>
              </a:defRPr>
            </a:pPr>
            <a:r>
              <a:rPr sz="1350" b="1">
                <a:solidFill>
                  <a:srgbClr val="C8A55E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C57A0-CE18-4E2D-B849-DD11433F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38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</a:defRPr>
            </a:pPr>
            <a:r>
              <a:rPr sz="1275" b="1">
                <a:solidFill>
                  <a:srgbClr val="F4F0E8"/>
                </a:solidFill>
              </a:rPr>
              <a:t>新业务经营亏损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90DCA-ECAC-4FEB-A163-620C7DC9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1B5"/>
                </a:solidFill>
              </a:defRPr>
            </a:pPr>
            <a:r>
              <a:rPr sz="975" b="0">
                <a:solidFill>
                  <a:srgbClr val="AAB1B5"/>
                </a:solidFill>
              </a:rPr>
              <a:t>规模扩大后费用是否摊薄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7EB70-A502-4613-A642-39EE7BFF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914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55C5B-A7F7-4879-B81B-2ACB3C6E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A55E"/>
                </a:solidFill>
              </a:defRPr>
            </a:pPr>
            <a:r>
              <a:rPr sz="1350" b="1">
                <a:solidFill>
                  <a:srgbClr val="C8A55E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8BA2D-8928-4358-8B29-18AC855D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</a:defRPr>
            </a:pPr>
            <a:r>
              <a:rPr sz="1275" b="1">
                <a:solidFill>
                  <a:srgbClr val="F4F0E8"/>
                </a:solidFill>
              </a:rPr>
              <a:t>研发 / 收入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E09C3-3CCA-43AC-BC90-ABF25865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1B5"/>
                </a:solidFill>
              </a:defRPr>
            </a:pPr>
            <a:r>
              <a:rPr sz="975" b="0">
                <a:solidFill>
                  <a:srgbClr val="AAB1B5"/>
                </a:solidFill>
              </a:rPr>
              <a:t>投入能否形成可商业化产品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9B5297-B544-4DEB-8290-2740B23B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52900"/>
            <a:ext cx="4914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B1F22"/>
          </a:solidFill>
          <a:ln xmlns:a="http://schemas.openxmlformats.org/drawingml/2006/main" w="9525">
            <a:solidFill>
              <a:srgbClr val="343A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D138D-5C36-4B2D-97A6-00B49AE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243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A55E"/>
                </a:solidFill>
              </a:defRPr>
            </a:pPr>
            <a:r>
              <a:rPr sz="1350" b="1">
                <a:solidFill>
                  <a:srgbClr val="C8A55E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8ED8EC-C167-4FAA-8471-639C3EB1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</a:defRPr>
            </a:pPr>
            <a:r>
              <a:rPr sz="1275" b="1">
                <a:solidFill>
                  <a:srgbClr val="F4F0E8"/>
                </a:solidFill>
              </a:rPr>
              <a:t>经营现金流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0EF00F-352D-46C6-8916-22C59768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291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1B5"/>
                </a:solidFill>
              </a:defRPr>
            </a:pPr>
            <a:r>
              <a:rPr sz="975" b="0">
                <a:solidFill>
                  <a:srgbClr val="AAB1B5"/>
                </a:solidFill>
              </a:rPr>
              <a:t>利润是否真正转化为现金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BB4916-DF66-433B-8F5A-83054F2E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82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02B20"/>
          </a:solidFill>
          <a:ln xmlns:a="http://schemas.openxmlformats.org/drawingml/2006/main" w="9525">
            <a:solidFill>
              <a:srgbClr val="C8A5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16BAAA-CC27-46B7-89C7-3D87378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A55E"/>
                </a:solidFill>
              </a:defRPr>
            </a:pPr>
            <a:r>
              <a:rPr sz="1050" b="1">
                <a:solidFill>
                  <a:srgbClr val="C8A55E"/>
                </a:solidFill>
              </a:rPr>
              <a:t>当前结论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6AEE3-BC2A-4719-9223-78578A0E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626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</a:defRPr>
            </a:pPr>
            <a:r>
              <a:rPr sz="1275" b="1">
                <a:solidFill>
                  <a:srgbClr val="F4F0E8"/>
                </a:solidFill>
              </a:rPr>
              <a:t>基本面仍有支撑；汽车毛利验证增强，但利润与现金回报尚未完成闭环；估值门禁未通过。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A248A6-A9F3-473E-A41B-5FC569EB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98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1B5"/>
                </a:solidFill>
              </a:defRPr>
            </a:pPr>
            <a:r>
              <a:rPr sz="750" b="0">
                <a:solidFill>
                  <a:srgbClr val="AAB1B5"/>
                </a:solidFill>
              </a:rPr>
              <a:t>A 级来源：小米 2025 年报、2026Q1 公告 / 演示材料、港交所披露｜完整链接见同目录 sources.md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740088-61D8-457B-A2BB-2251BC7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A74F1A-F99D-473B-B799-E4EF1751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AB1B5"/>
                </a:solidFill>
              </a:defRPr>
            </a:pPr>
            <a:r>
              <a:rPr sz="638" b="0">
                <a:solidFill>
                  <a:srgbClr val="AAB1B5"/>
                </a:solidFill>
              </a:rPr>
              <a:t>本材料用于能力演示与研究讨论，不构成买卖、申购或个性化投资建议。 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5CB9CF-93D5-4624-8857-3372B622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8652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7D3A5"/>
                </a:solidFill>
              </a:defRPr>
            </a:pPr>
            <a:r>
              <a:rPr sz="675" b="0">
                <a:solidFill>
                  <a:srgbClr val="E7D3A5"/>
                </a:solidFill>
              </a:rPr>
              <a:t>演示样张｜未批准公开｜不构成投资建议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1266551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2026-07-11T18:06:28.4410000Z</dcterms:created>
  <dcterms:modified xsi:type="dcterms:W3CDTF">2026-07-11T18:06:28.4410000Z</dcterms:modified>
</coreProperties>
</file>